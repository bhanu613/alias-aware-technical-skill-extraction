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0275213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35" userDrawn="1">
          <p15:clr>
            <a:srgbClr val="A4A3A4"/>
          </p15:clr>
        </p15:guide>
        <p15:guide id="2" pos="95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21" d="100"/>
          <a:sy n="21" d="100"/>
        </p:scale>
        <p:origin x="1148" y="80"/>
      </p:cViewPr>
      <p:guideLst>
        <p:guide orient="horz" pos="6735"/>
        <p:guide pos="95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3499590"/>
            <a:ext cx="25733931" cy="7444669"/>
          </a:xfrm>
        </p:spPr>
        <p:txBody>
          <a:bodyPr anchor="b"/>
          <a:lstStyle>
            <a:lvl1pPr algn="ctr"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11231355"/>
            <a:ext cx="22706410" cy="5162758"/>
          </a:xfrm>
        </p:spPr>
        <p:txBody>
          <a:bodyPr/>
          <a:lstStyle>
            <a:lvl1pPr marL="0" indent="0" algn="ctr">
              <a:buNone/>
              <a:defRPr sz="7483"/>
            </a:lvl1pPr>
            <a:lvl2pPr marL="1425595" indent="0" algn="ctr">
              <a:buNone/>
              <a:defRPr sz="6236"/>
            </a:lvl2pPr>
            <a:lvl3pPr marL="2851191" indent="0" algn="ctr">
              <a:buNone/>
              <a:defRPr sz="5613"/>
            </a:lvl3pPr>
            <a:lvl4pPr marL="4276786" indent="0" algn="ctr">
              <a:buNone/>
              <a:defRPr sz="4989"/>
            </a:lvl4pPr>
            <a:lvl5pPr marL="5702381" indent="0" algn="ctr">
              <a:buNone/>
              <a:defRPr sz="4989"/>
            </a:lvl5pPr>
            <a:lvl6pPr marL="7127977" indent="0" algn="ctr">
              <a:buNone/>
              <a:defRPr sz="4989"/>
            </a:lvl6pPr>
            <a:lvl7pPr marL="8553572" indent="0" algn="ctr">
              <a:buNone/>
              <a:defRPr sz="4989"/>
            </a:lvl7pPr>
            <a:lvl8pPr marL="9979167" indent="0" algn="ctr">
              <a:buNone/>
              <a:defRPr sz="4989"/>
            </a:lvl8pPr>
            <a:lvl9pPr marL="11404763" indent="0" algn="ctr">
              <a:buNone/>
              <a:defRPr sz="498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1C44D-3A10-46A4-AF27-2792D00940C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41EFF-516E-4BDF-A7CD-513D15527C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373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1C44D-3A10-46A4-AF27-2792D00940C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41EFF-516E-4BDF-A7CD-513D15527C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382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5331063"/>
            <a:ext cx="26112371" cy="8894992"/>
          </a:xfrm>
        </p:spPr>
        <p:txBody>
          <a:bodyPr anchor="b"/>
          <a:lstStyle>
            <a:lvl1pPr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14310205"/>
            <a:ext cx="26112371" cy="4677666"/>
          </a:xfrm>
        </p:spPr>
        <p:txBody>
          <a:bodyPr/>
          <a:lstStyle>
            <a:lvl1pPr marL="0" indent="0">
              <a:buNone/>
              <a:defRPr sz="7483">
                <a:solidFill>
                  <a:schemeClr val="tx1">
                    <a:tint val="82000"/>
                  </a:schemeClr>
                </a:solidFill>
              </a:defRPr>
            </a:lvl1pPr>
            <a:lvl2pPr marL="1425595" indent="0">
              <a:buNone/>
              <a:defRPr sz="6236">
                <a:solidFill>
                  <a:schemeClr val="tx1">
                    <a:tint val="82000"/>
                  </a:schemeClr>
                </a:solidFill>
              </a:defRPr>
            </a:lvl2pPr>
            <a:lvl3pPr marL="2851191" indent="0">
              <a:buNone/>
              <a:defRPr sz="5613">
                <a:solidFill>
                  <a:schemeClr val="tx1">
                    <a:tint val="82000"/>
                  </a:schemeClr>
                </a:solidFill>
              </a:defRPr>
            </a:lvl3pPr>
            <a:lvl4pPr marL="4276786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4pPr>
            <a:lvl5pPr marL="5702381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5pPr>
            <a:lvl6pPr marL="7127977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6pPr>
            <a:lvl7pPr marL="8553572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7pPr>
            <a:lvl8pPr marL="9979167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8pPr>
            <a:lvl9pPr marL="11404763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1C44D-3A10-46A4-AF27-2792D00940C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41EFF-516E-4BDF-A7CD-513D15527C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701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1C44D-3A10-46A4-AF27-2792D00940C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41EFF-516E-4BDF-A7CD-513D15527C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59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138485"/>
            <a:ext cx="26112371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5241960"/>
            <a:ext cx="12807832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7810963"/>
            <a:ext cx="12807832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5241960"/>
            <a:ext cx="12870909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7810963"/>
            <a:ext cx="12870909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1C44D-3A10-46A4-AF27-2792D00940C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41EFF-516E-4BDF-A7CD-513D15527C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118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1C44D-3A10-46A4-AF27-2792D00940C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41EFF-516E-4BDF-A7CD-513D15527C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947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1C44D-3A10-46A4-AF27-2792D00940C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41EFF-516E-4BDF-A7CD-513D15527C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745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3078850"/>
            <a:ext cx="15326827" cy="15196234"/>
          </a:xfrm>
        </p:spPr>
        <p:txBody>
          <a:bodyPr/>
          <a:lstStyle>
            <a:lvl1pPr>
              <a:defRPr sz="9978"/>
            </a:lvl1pPr>
            <a:lvl2pPr>
              <a:defRPr sz="8731"/>
            </a:lvl2pPr>
            <a:lvl3pPr>
              <a:defRPr sz="7483"/>
            </a:lvl3pPr>
            <a:lvl4pPr>
              <a:defRPr sz="6236"/>
            </a:lvl4pPr>
            <a:lvl5pPr>
              <a:defRPr sz="6236"/>
            </a:lvl5pPr>
            <a:lvl6pPr>
              <a:defRPr sz="6236"/>
            </a:lvl6pPr>
            <a:lvl7pPr>
              <a:defRPr sz="6236"/>
            </a:lvl7pPr>
            <a:lvl8pPr>
              <a:defRPr sz="6236"/>
            </a:lvl8pPr>
            <a:lvl9pPr>
              <a:defRPr sz="623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1C44D-3A10-46A4-AF27-2792D00940C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41EFF-516E-4BDF-A7CD-513D15527C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382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3078850"/>
            <a:ext cx="15326827" cy="15196234"/>
          </a:xfrm>
        </p:spPr>
        <p:txBody>
          <a:bodyPr anchor="t"/>
          <a:lstStyle>
            <a:lvl1pPr marL="0" indent="0">
              <a:buNone/>
              <a:defRPr sz="9978"/>
            </a:lvl1pPr>
            <a:lvl2pPr marL="1425595" indent="0">
              <a:buNone/>
              <a:defRPr sz="8731"/>
            </a:lvl2pPr>
            <a:lvl3pPr marL="2851191" indent="0">
              <a:buNone/>
              <a:defRPr sz="7483"/>
            </a:lvl3pPr>
            <a:lvl4pPr marL="4276786" indent="0">
              <a:buNone/>
              <a:defRPr sz="6236"/>
            </a:lvl4pPr>
            <a:lvl5pPr marL="5702381" indent="0">
              <a:buNone/>
              <a:defRPr sz="6236"/>
            </a:lvl5pPr>
            <a:lvl6pPr marL="7127977" indent="0">
              <a:buNone/>
              <a:defRPr sz="6236"/>
            </a:lvl6pPr>
            <a:lvl7pPr marL="8553572" indent="0">
              <a:buNone/>
              <a:defRPr sz="6236"/>
            </a:lvl7pPr>
            <a:lvl8pPr marL="9979167" indent="0">
              <a:buNone/>
              <a:defRPr sz="6236"/>
            </a:lvl8pPr>
            <a:lvl9pPr marL="11404763" indent="0">
              <a:buNone/>
              <a:defRPr sz="623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1C44D-3A10-46A4-AF27-2792D00940C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41EFF-516E-4BDF-A7CD-513D15527C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525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1C44D-3A10-46A4-AF27-2792D00940C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41EFF-516E-4BDF-A7CD-513D15527C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731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1138480"/>
            <a:ext cx="6528093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1138480"/>
            <a:ext cx="192058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1C44D-3A10-46A4-AF27-2792D00940C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41EFF-516E-4BDF-A7CD-513D15527C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576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1138485"/>
            <a:ext cx="26112371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5692400"/>
            <a:ext cx="26112371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F1C44D-3A10-46A4-AF27-2792D00940C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19819457"/>
            <a:ext cx="1021788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41EFF-516E-4BDF-A7CD-513D15527C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449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851191" rtl="0" eaLnBrk="1" latinLnBrk="0" hangingPunct="1">
        <a:lnSpc>
          <a:spcPct val="90000"/>
        </a:lnSpc>
        <a:spcBef>
          <a:spcPct val="0"/>
        </a:spcBef>
        <a:buNone/>
        <a:defRPr sz="13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2798" indent="-712798" algn="l" defTabSz="2851191" rtl="0" eaLnBrk="1" latinLnBrk="0" hangingPunct="1">
        <a:lnSpc>
          <a:spcPct val="90000"/>
        </a:lnSpc>
        <a:spcBef>
          <a:spcPts val="3118"/>
        </a:spcBef>
        <a:buFont typeface="Arial" panose="020B0604020202020204" pitchFamily="34" charset="0"/>
        <a:buChar char="•"/>
        <a:defRPr sz="8731" kern="1200">
          <a:solidFill>
            <a:schemeClr val="tx1"/>
          </a:solidFill>
          <a:latin typeface="+mn-lt"/>
          <a:ea typeface="+mn-ea"/>
          <a:cs typeface="+mn-cs"/>
        </a:defRPr>
      </a:lvl1pPr>
      <a:lvl2pPr marL="2138393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7483" kern="1200">
          <a:solidFill>
            <a:schemeClr val="tx1"/>
          </a:solidFill>
          <a:latin typeface="+mn-lt"/>
          <a:ea typeface="+mn-ea"/>
          <a:cs typeface="+mn-cs"/>
        </a:defRPr>
      </a:lvl2pPr>
      <a:lvl3pPr marL="3563988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3pPr>
      <a:lvl4pPr marL="498958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6415179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84077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926637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10691965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211756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1pPr>
      <a:lvl2pPr marL="1425595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85119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3pPr>
      <a:lvl4pPr marL="4276786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570238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12797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8553572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997916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1404763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hyperlink" Target="https://github.com/bhanu613/alias-aware-technical-skill-extractio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clanthology.org/2022.lrec-1.128/" TargetMode="External"/><Relationship Id="rId5" Type="http://schemas.openxmlformats.org/officeDocument/2006/relationships/hyperlink" Target="https://aclanthology.org/2022.naacl-main.366/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1">
            <a:extLst>
              <a:ext uri="{FF2B5EF4-FFF2-40B4-BE49-F238E27FC236}">
                <a16:creationId xmlns:a16="http://schemas.microsoft.com/office/drawing/2014/main" id="{3CB6F5F4-863A-A9EE-AE2F-02A06D2B2E07}"/>
              </a:ext>
            </a:extLst>
          </p:cNvPr>
          <p:cNvSpPr txBox="1">
            <a:spLocks/>
          </p:cNvSpPr>
          <p:nvPr/>
        </p:nvSpPr>
        <p:spPr bwMode="auto">
          <a:xfrm>
            <a:off x="319337" y="153769"/>
            <a:ext cx="28238349" cy="127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180000" rIns="90000" bIns="180000" numCol="1" anchor="t" anchorCtr="0" compatLnSpc="1">
            <a:prstTxWarp prst="textNoShape">
              <a:avLst/>
            </a:prstTxWarp>
          </a:bodyPr>
          <a:lstStyle>
            <a:lvl1pPr algn="l" defTabSz="4346328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defRPr sz="7065" b="1" i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defTabSz="4346328" rtl="0" eaLnBrk="0" fontAlgn="base" hangingPunct="0">
              <a:spcBef>
                <a:spcPct val="0"/>
              </a:spcBef>
              <a:spcAft>
                <a:spcPct val="0"/>
              </a:spcAft>
              <a:defRPr sz="21177">
                <a:solidFill>
                  <a:schemeClr val="tx2"/>
                </a:solidFill>
                <a:latin typeface="Times New Roman" pitchFamily="18" charset="0"/>
              </a:defRPr>
            </a:lvl2pPr>
            <a:lvl3pPr algn="ctr" defTabSz="4346328" rtl="0" eaLnBrk="0" fontAlgn="base" hangingPunct="0">
              <a:spcBef>
                <a:spcPct val="0"/>
              </a:spcBef>
              <a:spcAft>
                <a:spcPct val="0"/>
              </a:spcAft>
              <a:defRPr sz="21177">
                <a:solidFill>
                  <a:schemeClr val="tx2"/>
                </a:solidFill>
                <a:latin typeface="Times New Roman" pitchFamily="18" charset="0"/>
              </a:defRPr>
            </a:lvl3pPr>
            <a:lvl4pPr algn="ctr" defTabSz="4346328" rtl="0" eaLnBrk="0" fontAlgn="base" hangingPunct="0">
              <a:spcBef>
                <a:spcPct val="0"/>
              </a:spcBef>
              <a:spcAft>
                <a:spcPct val="0"/>
              </a:spcAft>
              <a:defRPr sz="21177">
                <a:solidFill>
                  <a:schemeClr val="tx2"/>
                </a:solidFill>
                <a:latin typeface="Times New Roman" pitchFamily="18" charset="0"/>
              </a:defRPr>
            </a:lvl4pPr>
            <a:lvl5pPr algn="ctr" defTabSz="4346328" rtl="0" eaLnBrk="0" fontAlgn="base" hangingPunct="0">
              <a:spcBef>
                <a:spcPct val="0"/>
              </a:spcBef>
              <a:spcAft>
                <a:spcPct val="0"/>
              </a:spcAft>
              <a:defRPr sz="21177">
                <a:solidFill>
                  <a:schemeClr val="tx2"/>
                </a:solidFill>
                <a:latin typeface="Times New Roman" pitchFamily="18" charset="0"/>
              </a:defRPr>
            </a:lvl5pPr>
            <a:lvl6pPr marL="456673" algn="ctr" defTabSz="4346328" rtl="0" eaLnBrk="0" fontAlgn="base" hangingPunct="0">
              <a:spcBef>
                <a:spcPct val="0"/>
              </a:spcBef>
              <a:spcAft>
                <a:spcPct val="0"/>
              </a:spcAft>
              <a:defRPr sz="21177">
                <a:solidFill>
                  <a:schemeClr val="tx2"/>
                </a:solidFill>
                <a:latin typeface="Times New Roman" pitchFamily="18" charset="0"/>
              </a:defRPr>
            </a:lvl6pPr>
            <a:lvl7pPr marL="913348" algn="ctr" defTabSz="4346328" rtl="0" eaLnBrk="0" fontAlgn="base" hangingPunct="0">
              <a:spcBef>
                <a:spcPct val="0"/>
              </a:spcBef>
              <a:spcAft>
                <a:spcPct val="0"/>
              </a:spcAft>
              <a:defRPr sz="21177">
                <a:solidFill>
                  <a:schemeClr val="tx2"/>
                </a:solidFill>
                <a:latin typeface="Times New Roman" pitchFamily="18" charset="0"/>
              </a:defRPr>
            </a:lvl7pPr>
            <a:lvl8pPr marL="1370022" algn="ctr" defTabSz="4346328" rtl="0" eaLnBrk="0" fontAlgn="base" hangingPunct="0">
              <a:spcBef>
                <a:spcPct val="0"/>
              </a:spcBef>
              <a:spcAft>
                <a:spcPct val="0"/>
              </a:spcAft>
              <a:defRPr sz="21177">
                <a:solidFill>
                  <a:schemeClr val="tx2"/>
                </a:solidFill>
                <a:latin typeface="Times New Roman" pitchFamily="18" charset="0"/>
              </a:defRPr>
            </a:lvl8pPr>
            <a:lvl9pPr marL="1826695" algn="ctr" defTabSz="4346328" rtl="0" eaLnBrk="0" fontAlgn="base" hangingPunct="0">
              <a:spcBef>
                <a:spcPct val="0"/>
              </a:spcBef>
              <a:spcAft>
                <a:spcPct val="0"/>
              </a:spcAft>
              <a:defRPr sz="21177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4346328" rtl="0" eaLnBrk="0" fontAlgn="base" latinLnBrk="0" hangingPunct="0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6800" b="1" i="0" u="none" strike="noStrike" kern="0" cap="none" spc="0" normalizeH="0" baseline="0" noProof="0" dirty="0">
                <a:ln>
                  <a:noFill/>
                </a:ln>
                <a:solidFill>
                  <a:srgbClr val="0079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Evaluating Alias-Aware Matching for Technical-Skill Extraction</a:t>
            </a:r>
          </a:p>
        </p:txBody>
      </p:sp>
      <p:sp>
        <p:nvSpPr>
          <p:cNvPr id="5" name="Textplatzhalter 10">
            <a:extLst>
              <a:ext uri="{FF2B5EF4-FFF2-40B4-BE49-F238E27FC236}">
                <a16:creationId xmlns:a16="http://schemas.microsoft.com/office/drawing/2014/main" id="{F8B7F78B-7F72-BAE8-245B-60AC7DD228B3}"/>
              </a:ext>
            </a:extLst>
          </p:cNvPr>
          <p:cNvSpPr txBox="1">
            <a:spLocks/>
          </p:cNvSpPr>
          <p:nvPr/>
        </p:nvSpPr>
        <p:spPr bwMode="auto">
          <a:xfrm>
            <a:off x="336050" y="1416708"/>
            <a:ext cx="28238349" cy="826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90000" rIns="90000" bIns="90000" numCol="1" anchor="t" anchorCtr="0" compatLnSpc="1">
            <a:prstTxWarp prst="textNoShape">
              <a:avLst/>
            </a:prstTxWarp>
          </a:bodyPr>
          <a:lstStyle>
            <a:lvl1pPr marL="0" indent="0" algn="l" defTabSz="4346328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946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62667" indent="-381333" algn="l" defTabSz="4346328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sz="6792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4000" indent="-381333" algn="l" defTabSz="4346328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sz="6792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26040" indent="-381510" algn="l" defTabSz="4346328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sz="6792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907550" indent="-381510" algn="l" defTabSz="4346328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sz="6792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0214901" indent="-1079844" algn="l" defTabSz="4346328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290">
                <a:solidFill>
                  <a:schemeClr val="tx1"/>
                </a:solidFill>
                <a:latin typeface="+mn-lt"/>
              </a:defRPr>
            </a:lvl6pPr>
            <a:lvl7pPr marL="10671574" indent="-1079844" algn="l" defTabSz="4346328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290">
                <a:solidFill>
                  <a:schemeClr val="tx1"/>
                </a:solidFill>
                <a:latin typeface="+mn-lt"/>
              </a:defRPr>
            </a:lvl7pPr>
            <a:lvl8pPr marL="11128248" indent="-1079844" algn="l" defTabSz="4346328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290">
                <a:solidFill>
                  <a:schemeClr val="tx1"/>
                </a:solidFill>
                <a:latin typeface="+mn-lt"/>
              </a:defRPr>
            </a:lvl8pPr>
            <a:lvl9pPr marL="11584921" indent="-1079844" algn="l" defTabSz="4346328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29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defRPr/>
            </a:pPr>
            <a:r>
              <a:rPr lang="en-US" sz="3800" kern="0" dirty="0">
                <a:solidFill>
                  <a:srgbClr val="0079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 held-out comparison of strict canonical matching and reviewed alias expansion in English IT job descriptions</a:t>
            </a:r>
            <a:endParaRPr kumimoji="0" lang="de-DE" sz="3800" b="0" i="0" u="none" strike="noStrike" kern="0" cap="none" spc="0" normalizeH="0" baseline="0" noProof="0" dirty="0">
              <a:ln>
                <a:noFill/>
              </a:ln>
              <a:solidFill>
                <a:srgbClr val="0079C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6EBB3C9C-6116-0C0E-8D9E-42E18271BC3E}"/>
              </a:ext>
            </a:extLst>
          </p:cNvPr>
          <p:cNvSpPr txBox="1">
            <a:spLocks/>
          </p:cNvSpPr>
          <p:nvPr/>
        </p:nvSpPr>
        <p:spPr bwMode="auto">
          <a:xfrm>
            <a:off x="336050" y="2563049"/>
            <a:ext cx="28204921" cy="826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90000" rIns="90000" bIns="90000" numCol="1" anchor="b" anchorCtr="0" compatLnSpc="1">
            <a:prstTxWarp prst="textNoShape">
              <a:avLst/>
            </a:prstTxWarp>
            <a:noAutofit/>
          </a:bodyPr>
          <a:lstStyle>
            <a:lvl1pPr marL="0" indent="0" algn="l" defTabSz="4346328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1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62667" indent="-381333" algn="l" defTabSz="4346328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sz="212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4000" indent="-381333" algn="l" defTabSz="4346328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sz="212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26040" indent="-381510" algn="l" defTabSz="4346328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sz="212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907550" indent="-381510" algn="l" defTabSz="4346328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sz="212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0214901" indent="-1079844" algn="l" defTabSz="4346328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290">
                <a:solidFill>
                  <a:schemeClr val="tx1"/>
                </a:solidFill>
                <a:latin typeface="+mn-lt"/>
              </a:defRPr>
            </a:lvl6pPr>
            <a:lvl7pPr marL="10671574" indent="-1079844" algn="l" defTabSz="4346328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290">
                <a:solidFill>
                  <a:schemeClr val="tx1"/>
                </a:solidFill>
                <a:latin typeface="+mn-lt"/>
              </a:defRPr>
            </a:lvl7pPr>
            <a:lvl8pPr marL="11128248" indent="-1079844" algn="l" defTabSz="4346328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290">
                <a:solidFill>
                  <a:schemeClr val="tx1"/>
                </a:solidFill>
                <a:latin typeface="+mn-lt"/>
              </a:defRPr>
            </a:lvl8pPr>
            <a:lvl9pPr marL="11584921" indent="-1079844" algn="l" defTabSz="4346328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29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4346328" rtl="0" eaLnBrk="0" fontAlgn="base" latinLnBrk="0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Bhanu Agarwal</a:t>
            </a:r>
            <a:br>
              <a:rPr kumimoji="0" lang="de-DE" sz="197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</a:br>
            <a:r>
              <a:rPr kumimoji="0" lang="de-DE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Trends in Natural Language Processing, Summer Semester 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DDE178-714C-DAA8-26AE-F2BC537CF2FF}"/>
              </a:ext>
            </a:extLst>
          </p:cNvPr>
          <p:cNvSpPr txBox="1"/>
          <p:nvPr/>
        </p:nvSpPr>
        <p:spPr>
          <a:xfrm>
            <a:off x="1643880" y="3738992"/>
            <a:ext cx="27831636" cy="509164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lvl="0" defTabSz="914400">
              <a:defRPr/>
            </a:pPr>
            <a:r>
              <a:rPr lang="en-US" sz="2600" b="1" kern="0" dirty="0">
                <a:ln>
                  <a:solidFill>
                    <a:srgbClr val="DCEBF7">
                      <a:alpha val="0"/>
                    </a:srgbClr>
                  </a:solidFill>
                  <a:bevel/>
                </a:ln>
                <a:solidFill>
                  <a:srgbClr val="002060"/>
                </a:solidFill>
                <a:cs typeface="Arial" panose="020B0604020202020204" pitchFamily="34" charset="0"/>
              </a:rPr>
              <a:t>On 100 held-out job descriptions, adding 13 reviewed aliases increased micro recall from 0.757 to 0.968 and micro F1 from 0.862 to 0.984, with 0 observed false positives.</a:t>
            </a:r>
            <a:endParaRPr kumimoji="0" sz="2600" b="1" i="0" u="none" strike="noStrike" kern="0" cap="none" spc="0" normalizeH="0" baseline="0" noProof="0" dirty="0">
              <a:ln>
                <a:solidFill>
                  <a:srgbClr val="DCEBF7">
                    <a:alpha val="0"/>
                  </a:srgbClr>
                </a:solidFill>
                <a:bevel/>
              </a:ln>
              <a:solidFill>
                <a:srgbClr val="002060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A7221F-1E06-368E-1D4D-C2C7FAF1602B}"/>
              </a:ext>
            </a:extLst>
          </p:cNvPr>
          <p:cNvSpPr txBox="1"/>
          <p:nvPr/>
        </p:nvSpPr>
        <p:spPr>
          <a:xfrm>
            <a:off x="13738489" y="4872859"/>
            <a:ext cx="1985143" cy="570720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ctr"/>
            <a:r>
              <a:rPr sz="3000" b="1" dirty="0">
                <a:solidFill>
                  <a:srgbClr val="0B2E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CACD0A-71F1-ADED-8B0F-46F60B908632}"/>
              </a:ext>
            </a:extLst>
          </p:cNvPr>
          <p:cNvSpPr txBox="1"/>
          <p:nvPr/>
        </p:nvSpPr>
        <p:spPr>
          <a:xfrm>
            <a:off x="23692581" y="4877524"/>
            <a:ext cx="4974716" cy="570720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ctr"/>
            <a:r>
              <a:rPr lang="en-US" sz="3000" b="1" dirty="0">
                <a:solidFill>
                  <a:srgbClr val="0B2E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anose="020B0604020202020204" pitchFamily="34" charset="0"/>
              </a:rPr>
              <a:t>INTERPRETATIONS</a:t>
            </a:r>
            <a:r>
              <a:rPr sz="3000" b="1" dirty="0">
                <a:solidFill>
                  <a:srgbClr val="0B2E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anose="020B0604020202020204" pitchFamily="34" charset="0"/>
              </a:rPr>
              <a:t> &amp; LIMITS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BAF82AC-01C4-1D50-816C-38BCD6DE4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" r="1929"/>
          <a:stretch>
            <a:fillRect/>
          </a:stretch>
        </p:blipFill>
        <p:spPr>
          <a:xfrm>
            <a:off x="9677230" y="5666973"/>
            <a:ext cx="11123786" cy="728216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89D8D30-7D3F-0E90-EA48-9EEC2DB17F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5" r="1225"/>
          <a:stretch/>
        </p:blipFill>
        <p:spPr>
          <a:xfrm>
            <a:off x="9697197" y="13315082"/>
            <a:ext cx="11103820" cy="747512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5ADB59A-F450-6FEC-D90D-FA43B9C995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714208" y="5746134"/>
            <a:ext cx="9449968" cy="688322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C8999BE-4A1F-813D-C500-C69C1ECC62A6}"/>
              </a:ext>
            </a:extLst>
          </p:cNvPr>
          <p:cNvSpPr txBox="1"/>
          <p:nvPr/>
        </p:nvSpPr>
        <p:spPr>
          <a:xfrm>
            <a:off x="336050" y="6246686"/>
            <a:ext cx="9194800" cy="847718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How much and at what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precision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cost does alias-aware matching improve recall, and F1 compared with strict canonical matching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 panose="020B0604020202020204" pitchFamily="34" charset="0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19E901-0463-1F98-F779-6CBA2CCB0D49}"/>
              </a:ext>
            </a:extLst>
          </p:cNvPr>
          <p:cNvSpPr txBox="1"/>
          <p:nvPr/>
        </p:nvSpPr>
        <p:spPr>
          <a:xfrm>
            <a:off x="356018" y="5745804"/>
            <a:ext cx="4572000" cy="539942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rgbClr val="1F6FB2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</a:rPr>
              <a:t>RESEARCH QUESTION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AB379B-4691-DA64-1AF7-DD67FE14F478}"/>
              </a:ext>
            </a:extLst>
          </p:cNvPr>
          <p:cNvSpPr txBox="1"/>
          <p:nvPr/>
        </p:nvSpPr>
        <p:spPr>
          <a:xfrm>
            <a:off x="374566" y="7823181"/>
            <a:ext cx="9194800" cy="847718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cs typeface="Arial" panose="020B0604020202020204" pitchFamily="34" charset="0"/>
              </a:rPr>
              <a:t>Reviewed aliases recover alternative forms, yielding higher held-out recall and F1.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E57808-ABE2-A14A-431B-C4CE925E5866}"/>
              </a:ext>
            </a:extLst>
          </p:cNvPr>
          <p:cNvSpPr txBox="1"/>
          <p:nvPr/>
        </p:nvSpPr>
        <p:spPr>
          <a:xfrm>
            <a:off x="374568" y="7348643"/>
            <a:ext cx="6840000" cy="539942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1F6FB2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</a:rPr>
              <a:t>HYPOTHESIS</a:t>
            </a:r>
            <a:endParaRPr kumimoji="0" sz="2800" b="1" i="0" u="none" strike="noStrike" kern="0" cap="none" spc="0" normalizeH="0" baseline="0" noProof="0" dirty="0">
              <a:ln>
                <a:noFill/>
              </a:ln>
              <a:solidFill>
                <a:srgbClr val="1F6FB2"/>
              </a:solidFill>
              <a:effectLst/>
              <a:uLnTx/>
              <a:uFillTx/>
              <a:latin typeface="+mj-lt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E9FD60-EAAA-9322-A4F9-708EE8E367F9}"/>
              </a:ext>
            </a:extLst>
          </p:cNvPr>
          <p:cNvSpPr txBox="1"/>
          <p:nvPr/>
        </p:nvSpPr>
        <p:spPr>
          <a:xfrm>
            <a:off x="413724" y="4877524"/>
            <a:ext cx="7416000" cy="570720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ctr"/>
            <a:r>
              <a:rPr sz="3000" b="1" dirty="0">
                <a:solidFill>
                  <a:srgbClr val="0B2E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anose="020B0604020202020204" pitchFamily="34" charset="0"/>
              </a:rPr>
              <a:t>QUESTION &amp; METHOD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14B23A-D46A-E896-DD16-83F61674037E}"/>
              </a:ext>
            </a:extLst>
          </p:cNvPr>
          <p:cNvSpPr txBox="1"/>
          <p:nvPr/>
        </p:nvSpPr>
        <p:spPr>
          <a:xfrm>
            <a:off x="317918" y="8816535"/>
            <a:ext cx="9220199" cy="2060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346328" rtl="0" eaLnBrk="0" fontAlgn="base" latinLnBrk="0" hangingPunct="0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sz="2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BACKGROUND</a:t>
            </a:r>
            <a:r>
              <a:rPr kumimoji="0" lang="de-DE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 </a:t>
            </a:r>
            <a:endParaRPr lang="de-DE" sz="2400" b="1" kern="0" dirty="0">
              <a:solidFill>
                <a:srgbClr val="0070C0"/>
              </a:solidFill>
              <a:latin typeface="+mj-lt"/>
              <a:cs typeface="Arial" panose="020B0604020202020204" pitchFamily="34" charset="0"/>
            </a:endParaRPr>
          </a:p>
          <a:p>
            <a:pPr lvl="0" defTabSz="4346328" eaLnBrk="0" fontAlgn="base" hangingPunct="0">
              <a:spcAft>
                <a:spcPct val="0"/>
              </a:spcAft>
              <a:defRPr/>
            </a:pPr>
            <a:r>
              <a:rPr lang="en-IN" sz="2400" dirty="0"/>
              <a:t>The same technical concept appears in multiple surface forms in job descriptions, such as AWS, </a:t>
            </a:r>
            <a:r>
              <a:rPr lang="en-IN" sz="2400" dirty="0" err="1"/>
              <a:t>PySpark</a:t>
            </a:r>
            <a:r>
              <a:rPr lang="en-IN" sz="2400" dirty="0"/>
              <a:t>, </a:t>
            </a:r>
            <a:r>
              <a:rPr lang="en-IN" sz="2400" dirty="0" err="1"/>
              <a:t>PowerBI</a:t>
            </a:r>
            <a:r>
              <a:rPr lang="en-IN" sz="2400" dirty="0"/>
              <a:t>, and ML. Strict lexicon matching can therefore miss valid mentions even when the canonical concept is in scope.</a:t>
            </a:r>
            <a:endParaRPr lang="de-DE" sz="2400" b="1" kern="0" dirty="0">
              <a:solidFill>
                <a:srgbClr val="0070C0"/>
              </a:solidFill>
              <a:cs typeface="Arial" panose="020B0604020202020204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FE0EE1A-A857-CF11-0A80-68295D913354}"/>
              </a:ext>
            </a:extLst>
          </p:cNvPr>
          <p:cNvCxnSpPr>
            <a:cxnSpLocks/>
          </p:cNvCxnSpPr>
          <p:nvPr/>
        </p:nvCxnSpPr>
        <p:spPr>
          <a:xfrm>
            <a:off x="-1" y="3718855"/>
            <a:ext cx="302752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0605F61-9624-B1DD-7FB4-4743DA4FE8F0}"/>
              </a:ext>
            </a:extLst>
          </p:cNvPr>
          <p:cNvCxnSpPr>
            <a:cxnSpLocks/>
          </p:cNvCxnSpPr>
          <p:nvPr/>
        </p:nvCxnSpPr>
        <p:spPr>
          <a:xfrm flipV="1">
            <a:off x="0" y="4266203"/>
            <a:ext cx="30275213" cy="123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77B3C58F-A79A-F214-FA28-E1FF14F0B325}"/>
              </a:ext>
            </a:extLst>
          </p:cNvPr>
          <p:cNvSpPr txBox="1"/>
          <p:nvPr/>
        </p:nvSpPr>
        <p:spPr>
          <a:xfrm>
            <a:off x="10089132" y="12544927"/>
            <a:ext cx="10625076" cy="461665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Figure 1.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u="sng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System</a:t>
            </a:r>
            <a:r>
              <a:rPr lang="en-US" sz="2400" b="1" u="sng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u="sng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 and B Comparison</a:t>
            </a:r>
            <a:endParaRPr lang="en-IN" sz="2400" b="1" u="sng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12CE775-9D17-0938-703C-C5841B62B1C8}"/>
              </a:ext>
            </a:extLst>
          </p:cNvPr>
          <p:cNvSpPr txBox="1"/>
          <p:nvPr/>
        </p:nvSpPr>
        <p:spPr>
          <a:xfrm>
            <a:off x="2354096" y="147268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1FED446-FE00-6779-47DB-5FA3E6C96F09}"/>
              </a:ext>
            </a:extLst>
          </p:cNvPr>
          <p:cNvSpPr txBox="1"/>
          <p:nvPr/>
        </p:nvSpPr>
        <p:spPr>
          <a:xfrm>
            <a:off x="337886" y="11039465"/>
            <a:ext cx="9194800" cy="1702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46328" eaLnBrk="0" fontAlgn="base" hangingPunct="0">
              <a:lnSpc>
                <a:spcPct val="114000"/>
              </a:lnSpc>
              <a:spcAft>
                <a:spcPct val="0"/>
              </a:spcAft>
              <a:defRPr/>
            </a:pPr>
            <a:r>
              <a:rPr lang="de-DE" sz="2800" b="1" kern="0" dirty="0">
                <a:solidFill>
                  <a:srgbClr val="0070C0"/>
                </a:solidFill>
                <a:latin typeface="+mj-lt"/>
                <a:cs typeface="Arial" panose="020B0604020202020204" pitchFamily="34" charset="0"/>
              </a:rPr>
              <a:t>PRIOR WORK</a:t>
            </a:r>
            <a:endParaRPr lang="en-IN" sz="2800" b="1" kern="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lvl="0" defTabSz="4346328" eaLnBrk="0" fontAlgn="base" hangingPunct="0">
              <a:lnSpc>
                <a:spcPct val="114000"/>
              </a:lnSpc>
              <a:spcAft>
                <a:spcPct val="0"/>
              </a:spcAft>
              <a:defRPr/>
            </a:pPr>
            <a:r>
              <a:rPr lang="en-IN" sz="2400" kern="0" dirty="0">
                <a:solidFill>
                  <a:srgbClr val="000000"/>
                </a:solidFill>
                <a:cs typeface="Arial" panose="020B0604020202020204" pitchFamily="34" charset="0"/>
              </a:rPr>
              <a:t>Experiment is related to skill extraction</a:t>
            </a:r>
            <a:r>
              <a:rPr lang="en-IN" sz="2400" kern="0" baseline="30000" dirty="0">
                <a:solidFill>
                  <a:srgbClr val="000000"/>
                </a:solidFill>
                <a:cs typeface="Arial" panose="020B0604020202020204" pitchFamily="34" charset="0"/>
                <a:hlinkClick r:id="rId5"/>
              </a:rPr>
              <a:t>[1]</a:t>
            </a:r>
            <a:r>
              <a:rPr lang="en-IN" sz="2400" kern="0" dirty="0">
                <a:solidFill>
                  <a:srgbClr val="000000"/>
                </a:solidFill>
                <a:cs typeface="Arial" panose="020B0604020202020204" pitchFamily="34" charset="0"/>
              </a:rPr>
              <a:t> and job-description entity recognition</a:t>
            </a:r>
            <a:r>
              <a:rPr lang="en-IN" sz="2400" kern="0" baseline="30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IN" sz="2400" kern="0" baseline="30000" dirty="0">
                <a:solidFill>
                  <a:srgbClr val="000000"/>
                </a:solidFill>
                <a:cs typeface="Arial" panose="020B0604020202020204" pitchFamily="34" charset="0"/>
                <a:hlinkClick r:id="rId6"/>
              </a:rPr>
              <a:t>[2]</a:t>
            </a:r>
            <a:r>
              <a:rPr lang="en-IN" sz="2400" kern="0" dirty="0">
                <a:solidFill>
                  <a:srgbClr val="000000"/>
                </a:solidFill>
                <a:cs typeface="Arial" panose="020B0604020202020204" pitchFamily="34" charset="0"/>
              </a:rPr>
              <a:t>. </a:t>
            </a:r>
            <a:endParaRPr lang="en-IN" sz="2000" kern="0" baseline="30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A2F76E8-62B4-0EDA-C073-691B96E310D1}"/>
              </a:ext>
            </a:extLst>
          </p:cNvPr>
          <p:cNvSpPr txBox="1"/>
          <p:nvPr/>
        </p:nvSpPr>
        <p:spPr>
          <a:xfrm>
            <a:off x="279400" y="14480978"/>
            <a:ext cx="2705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+mj-lt"/>
              </a:rPr>
              <a:t>METHODOLOGY</a:t>
            </a:r>
            <a:endParaRPr lang="en-IN" sz="2800" b="1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109" name="Flowchart: Alternate Process 108">
            <a:extLst>
              <a:ext uri="{FF2B5EF4-FFF2-40B4-BE49-F238E27FC236}">
                <a16:creationId xmlns:a16="http://schemas.microsoft.com/office/drawing/2014/main" id="{583C0A62-D143-A8BF-68C6-04C63A5B4A2E}"/>
              </a:ext>
            </a:extLst>
          </p:cNvPr>
          <p:cNvSpPr/>
          <p:nvPr/>
        </p:nvSpPr>
        <p:spPr>
          <a:xfrm>
            <a:off x="319338" y="15098883"/>
            <a:ext cx="9154861" cy="1274583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IN" sz="2500" b="1" dirty="0">
              <a:latin typeface="+mj-lt"/>
            </a:endParaRPr>
          </a:p>
          <a:p>
            <a:pPr lvl="0" algn="ctr"/>
            <a:r>
              <a:rPr lang="en-IN" sz="2500" b="1" dirty="0">
                <a:latin typeface="+mj-lt"/>
              </a:rPr>
              <a:t>Corpus Setup</a:t>
            </a:r>
          </a:p>
          <a:p>
            <a:pPr lvl="0"/>
            <a:r>
              <a:rPr lang="en-IN" sz="2400" dirty="0"/>
              <a:t>Djinni English job-description, filtered into IT Job Postings and split into Development (n=200) and fixed Evaluation sets (n=100)</a:t>
            </a:r>
          </a:p>
          <a:p>
            <a:pPr algn="ctr"/>
            <a:endParaRPr lang="en-IN" dirty="0"/>
          </a:p>
        </p:txBody>
      </p:sp>
      <p:sp>
        <p:nvSpPr>
          <p:cNvPr id="110" name="Flowchart: Alternate Process 109">
            <a:extLst>
              <a:ext uri="{FF2B5EF4-FFF2-40B4-BE49-F238E27FC236}">
                <a16:creationId xmlns:a16="http://schemas.microsoft.com/office/drawing/2014/main" id="{BE4BD024-DA5B-CDB9-CA6D-AD904480148F}"/>
              </a:ext>
            </a:extLst>
          </p:cNvPr>
          <p:cNvSpPr/>
          <p:nvPr/>
        </p:nvSpPr>
        <p:spPr>
          <a:xfrm>
            <a:off x="299370" y="16480130"/>
            <a:ext cx="9154860" cy="1274583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N" sz="2500" b="1" dirty="0">
                <a:latin typeface="+mj-lt"/>
              </a:rPr>
              <a:t>Lexicon Curation</a:t>
            </a:r>
            <a:endParaRPr lang="en-IN" sz="2500" dirty="0">
              <a:latin typeface="+mj-lt"/>
            </a:endParaRPr>
          </a:p>
          <a:p>
            <a:pPr lvl="0"/>
            <a:r>
              <a:rPr lang="en-US" sz="2400" dirty="0"/>
              <a:t>Development-only review and coverage audit froze 20 canonical labels and 13 reviewed aliases</a:t>
            </a:r>
            <a:endParaRPr lang="en-IN" sz="2400" dirty="0"/>
          </a:p>
        </p:txBody>
      </p:sp>
      <p:sp>
        <p:nvSpPr>
          <p:cNvPr id="112" name="Flowchart: Alternate Process 111">
            <a:extLst>
              <a:ext uri="{FF2B5EF4-FFF2-40B4-BE49-F238E27FC236}">
                <a16:creationId xmlns:a16="http://schemas.microsoft.com/office/drawing/2014/main" id="{021B9CD4-F9CE-25B9-AC24-16157D274F92}"/>
              </a:ext>
            </a:extLst>
          </p:cNvPr>
          <p:cNvSpPr/>
          <p:nvPr/>
        </p:nvSpPr>
        <p:spPr>
          <a:xfrm>
            <a:off x="319339" y="17861377"/>
            <a:ext cx="9154859" cy="1274583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N" sz="2500" b="1" dirty="0">
                <a:latin typeface="+mj-lt"/>
              </a:rPr>
              <a:t>Independent Gold Annotation</a:t>
            </a:r>
          </a:p>
          <a:p>
            <a:r>
              <a:rPr lang="en-IN" sz="2400" dirty="0"/>
              <a:t>Annotation of held-out postings using the frozen 20-label inventory</a:t>
            </a:r>
          </a:p>
        </p:txBody>
      </p:sp>
      <p:sp>
        <p:nvSpPr>
          <p:cNvPr id="118" name="Arrow: Left-Right 117">
            <a:extLst>
              <a:ext uri="{FF2B5EF4-FFF2-40B4-BE49-F238E27FC236}">
                <a16:creationId xmlns:a16="http://schemas.microsoft.com/office/drawing/2014/main" id="{F7C3DD10-C10F-AC15-BBEF-9F478E1F4960}"/>
              </a:ext>
            </a:extLst>
          </p:cNvPr>
          <p:cNvSpPr/>
          <p:nvPr/>
        </p:nvSpPr>
        <p:spPr>
          <a:xfrm>
            <a:off x="4280185" y="20258817"/>
            <a:ext cx="974437" cy="214008"/>
          </a:xfrm>
          <a:prstGeom prst="left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Flowchart: Alternate Process 119">
            <a:extLst>
              <a:ext uri="{FF2B5EF4-FFF2-40B4-BE49-F238E27FC236}">
                <a16:creationId xmlns:a16="http://schemas.microsoft.com/office/drawing/2014/main" id="{11F826A0-76A8-B875-0B2C-8C435A8E11CE}"/>
              </a:ext>
            </a:extLst>
          </p:cNvPr>
          <p:cNvSpPr/>
          <p:nvPr/>
        </p:nvSpPr>
        <p:spPr>
          <a:xfrm>
            <a:off x="319338" y="19242624"/>
            <a:ext cx="9154860" cy="1274583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N" sz="2500" b="1" dirty="0">
                <a:latin typeface="+mj-lt"/>
              </a:rPr>
              <a:t>System Extractors &amp; Evaluation</a:t>
            </a:r>
            <a:endParaRPr lang="en-IN" sz="2400" b="1" dirty="0">
              <a:latin typeface="+mj-lt"/>
            </a:endParaRPr>
          </a:p>
          <a:p>
            <a:pPr lvl="0"/>
            <a:r>
              <a:rPr lang="en-IN" sz="2400" dirty="0"/>
              <a:t>System predictions and comparison using annotated gold dataset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560C4C-8111-D1F3-E805-7FF4F3D0582C}"/>
              </a:ext>
            </a:extLst>
          </p:cNvPr>
          <p:cNvSpPr txBox="1"/>
          <p:nvPr/>
        </p:nvSpPr>
        <p:spPr>
          <a:xfrm>
            <a:off x="299370" y="12662858"/>
            <a:ext cx="924016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kern="0" dirty="0">
                <a:solidFill>
                  <a:srgbClr val="0070C0"/>
                </a:solidFill>
                <a:latin typeface="+mj-lt"/>
                <a:cs typeface="Arial" panose="020B0604020202020204" pitchFamily="34" charset="0"/>
              </a:rPr>
              <a:t>CONTRIBUTION</a:t>
            </a:r>
            <a:endParaRPr lang="en-IN" sz="2800" dirty="0">
              <a:latin typeface="+mj-lt"/>
            </a:endParaRPr>
          </a:p>
          <a:p>
            <a:r>
              <a:rPr lang="en-IN" sz="2400" dirty="0"/>
              <a:t>This study isolates the effect of reviewed aliases: </a:t>
            </a:r>
            <a:r>
              <a:rPr lang="en-IN" sz="2400" kern="0" dirty="0">
                <a:solidFill>
                  <a:srgbClr val="000000"/>
                </a:solidFill>
                <a:cs typeface="Arial" panose="020B0604020202020204" pitchFamily="34" charset="0"/>
              </a:rPr>
              <a:t>it evaluates a controlled rule-based comparison using b</a:t>
            </a:r>
            <a:r>
              <a:rPr lang="en-IN" sz="2400" dirty="0"/>
              <a:t>oundary-safe regex matching</a:t>
            </a:r>
            <a:r>
              <a:rPr lang="en-IN" sz="2400" kern="0" dirty="0">
                <a:solidFill>
                  <a:srgbClr val="000000"/>
                </a:solidFill>
                <a:cs typeface="Arial" panose="020B0604020202020204" pitchFamily="34" charset="0"/>
              </a:rPr>
              <a:t> in which only alias availability changes.</a:t>
            </a:r>
            <a:r>
              <a:rPr lang="en-IN" sz="2000" kern="0" baseline="30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ACE061-AE90-C140-4B21-5CBAEFE87910}"/>
              </a:ext>
            </a:extLst>
          </p:cNvPr>
          <p:cNvSpPr txBox="1"/>
          <p:nvPr/>
        </p:nvSpPr>
        <p:spPr>
          <a:xfrm>
            <a:off x="1459149" y="207730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AE5C94-CD01-B75C-CE8F-F51B2A3283BF}"/>
              </a:ext>
            </a:extLst>
          </p:cNvPr>
          <p:cNvSpPr txBox="1"/>
          <p:nvPr/>
        </p:nvSpPr>
        <p:spPr>
          <a:xfrm>
            <a:off x="12079675" y="20718408"/>
            <a:ext cx="8144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Figure 2.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System A False Negatives Recovery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E0C18A-19A8-24A9-0B91-EEB836BB0BCB}"/>
              </a:ext>
            </a:extLst>
          </p:cNvPr>
          <p:cNvSpPr txBox="1"/>
          <p:nvPr/>
        </p:nvSpPr>
        <p:spPr>
          <a:xfrm>
            <a:off x="23093917" y="12510557"/>
            <a:ext cx="6749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Figure 3.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System B error reasons and  instances</a:t>
            </a:r>
            <a:endParaRPr lang="en-IN" sz="2400" b="1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AD8A48-40D1-FF3B-6924-26EBD0C86C00}"/>
              </a:ext>
            </a:extLst>
          </p:cNvPr>
          <p:cNvSpPr txBox="1"/>
          <p:nvPr/>
        </p:nvSpPr>
        <p:spPr>
          <a:xfrm>
            <a:off x="22360580" y="13313966"/>
            <a:ext cx="245503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+mj-lt"/>
              </a:rPr>
              <a:t> CONCLUSION</a:t>
            </a:r>
            <a:endParaRPr lang="en-US" sz="2800" dirty="0">
              <a:latin typeface="+mj-lt"/>
            </a:endParaRPr>
          </a:p>
          <a:p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687301-5B9A-E803-F501-EF7D21871AFC}"/>
              </a:ext>
            </a:extLst>
          </p:cNvPr>
          <p:cNvSpPr txBox="1"/>
          <p:nvPr/>
        </p:nvSpPr>
        <p:spPr>
          <a:xfrm>
            <a:off x="23588096" y="147976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42" name="Flowchart: Alternate Process 41">
            <a:extLst>
              <a:ext uri="{FF2B5EF4-FFF2-40B4-BE49-F238E27FC236}">
                <a16:creationId xmlns:a16="http://schemas.microsoft.com/office/drawing/2014/main" id="{F95BBAD4-3036-E9C0-207F-B779A39287BA}"/>
              </a:ext>
            </a:extLst>
          </p:cNvPr>
          <p:cNvSpPr/>
          <p:nvPr/>
        </p:nvSpPr>
        <p:spPr>
          <a:xfrm>
            <a:off x="22448601" y="13942708"/>
            <a:ext cx="7423185" cy="2307013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N" sz="2400" b="1" dirty="0"/>
              <a:t>The hypothesis was supported. </a:t>
            </a:r>
          </a:p>
          <a:p>
            <a:pPr lvl="0" algn="ctr"/>
            <a:r>
              <a:rPr lang="en-IN" sz="2400" dirty="0"/>
              <a:t>Adding 13 reviewed aliases substantially improved recall and F1 without observed false-positives; recovered 80 of 92 System A false-negatives and increased exact-set match from 41% to 89%.</a:t>
            </a:r>
          </a:p>
        </p:txBody>
      </p:sp>
      <p:sp>
        <p:nvSpPr>
          <p:cNvPr id="47" name="Flowchart: Alternate Process 46">
            <a:extLst>
              <a:ext uri="{FF2B5EF4-FFF2-40B4-BE49-F238E27FC236}">
                <a16:creationId xmlns:a16="http://schemas.microsoft.com/office/drawing/2014/main" id="{1A734EDA-246B-D9F7-F204-348FC2D11F30}"/>
              </a:ext>
            </a:extLst>
          </p:cNvPr>
          <p:cNvSpPr/>
          <p:nvPr/>
        </p:nvSpPr>
        <p:spPr>
          <a:xfrm>
            <a:off x="22448601" y="17165142"/>
            <a:ext cx="7423186" cy="3434421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N" sz="2400" b="1" dirty="0">
                <a:solidFill>
                  <a:schemeClr val="bg1"/>
                </a:solidFill>
              </a:rPr>
              <a:t>• Bounded scope: </a:t>
            </a:r>
            <a:r>
              <a:rPr lang="en-IN" sz="2400" dirty="0">
                <a:solidFill>
                  <a:schemeClr val="bg1"/>
                </a:solidFill>
              </a:rPr>
              <a:t>20 canonical concepts and 100 documents </a:t>
            </a:r>
            <a:r>
              <a:rPr lang="en-IN" sz="2400" dirty="0" err="1">
                <a:solidFill>
                  <a:schemeClr val="bg1"/>
                </a:solidFill>
              </a:rPr>
              <a:t>english</a:t>
            </a:r>
            <a:r>
              <a:rPr lang="en-IN" sz="2400" dirty="0">
                <a:solidFill>
                  <a:schemeClr val="bg1"/>
                </a:solidFill>
              </a:rPr>
              <a:t> data-related IT postings only.</a:t>
            </a:r>
          </a:p>
          <a:p>
            <a:pPr lvl="0" algn="ctr"/>
            <a:r>
              <a:rPr lang="en-IN" sz="2400" b="1" dirty="0">
                <a:solidFill>
                  <a:schemeClr val="bg1"/>
                </a:solidFill>
              </a:rPr>
              <a:t>• Annotation: </a:t>
            </a:r>
            <a:r>
              <a:rPr lang="en-IN" sz="2400" dirty="0">
                <a:solidFill>
                  <a:schemeClr val="bg1"/>
                </a:solidFill>
              </a:rPr>
              <a:t>One annotator; no inter-annotator agreement.</a:t>
            </a:r>
          </a:p>
          <a:p>
            <a:pPr lvl="0" algn="ctr"/>
            <a:r>
              <a:rPr lang="en-IN" sz="2400" b="1" dirty="0">
                <a:solidFill>
                  <a:schemeClr val="bg1"/>
                </a:solidFill>
              </a:rPr>
              <a:t>• Unapproved variants </a:t>
            </a:r>
            <a:r>
              <a:rPr lang="en-IN" sz="2400" dirty="0">
                <a:solidFill>
                  <a:schemeClr val="bg1"/>
                </a:solidFill>
              </a:rPr>
              <a:t>and conservative hyphen handling miss valid forms.</a:t>
            </a:r>
          </a:p>
          <a:p>
            <a:pPr lvl="0" algn="ctr"/>
            <a:r>
              <a:rPr lang="en-IN" sz="2400" b="1" dirty="0">
                <a:solidFill>
                  <a:schemeClr val="bg1"/>
                </a:solidFill>
              </a:rPr>
              <a:t>Future: Broader surface-form coverage and carefully tested boundary extensions.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359B578-B272-1A2C-2A93-C8AD1263237A}"/>
              </a:ext>
            </a:extLst>
          </p:cNvPr>
          <p:cNvSpPr txBox="1"/>
          <p:nvPr/>
        </p:nvSpPr>
        <p:spPr>
          <a:xfrm>
            <a:off x="22360580" y="16561166"/>
            <a:ext cx="51666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 LIMITATIONS &amp; FUTURE WORK</a:t>
            </a:r>
            <a:endParaRPr lang="en-IN" sz="2800" dirty="0"/>
          </a:p>
        </p:txBody>
      </p:sp>
      <p:pic>
        <p:nvPicPr>
          <p:cNvPr id="51" name="Picture 50">
            <a:hlinkClick r:id="rId7"/>
            <a:extLst>
              <a:ext uri="{FF2B5EF4-FFF2-40B4-BE49-F238E27FC236}">
                <a16:creationId xmlns:a16="http://schemas.microsoft.com/office/drawing/2014/main" id="{5232BFC7-8E09-86B0-0D4F-6EA62C0E02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5604" y="0"/>
            <a:ext cx="3399743" cy="3399743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F897F6BF-3685-F97E-A2C7-714979BD8B2A}"/>
              </a:ext>
            </a:extLst>
          </p:cNvPr>
          <p:cNvSpPr txBox="1"/>
          <p:nvPr/>
        </p:nvSpPr>
        <p:spPr>
          <a:xfrm>
            <a:off x="23258549" y="3339455"/>
            <a:ext cx="7016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QR Code:</a:t>
            </a:r>
            <a:r>
              <a:rPr lang="en-US" dirty="0"/>
              <a:t> Code, notebooks, frozen artifacts, and reproducible results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9246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975</TotalTime>
  <Words>393</Words>
  <Application>Microsoft Office PowerPoint</Application>
  <PresentationFormat>Custom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Agarwal, Bhanu</dc:creator>
  <cp:lastModifiedBy>Agarwal, Bhanu</cp:lastModifiedBy>
  <cp:revision>18</cp:revision>
  <dcterms:created xsi:type="dcterms:W3CDTF">2026-09-19T13:52:58Z</dcterms:created>
  <dcterms:modified xsi:type="dcterms:W3CDTF">2026-09-21T20:08:52Z</dcterms:modified>
</cp:coreProperties>
</file>